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5303520"/>
            <a:ext cx="1947672" cy="15544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0"/>
            <a:ext cx="1399032" cy="201168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AGENTIC
ENGINEERING
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DD6B5"/>
                </a:solidFill>
                <a:latin typeface="Inter"/>
              </a:rPr>
              <a:t>How the code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state machine  ·  orchestrator  ·  agent runner  ·  ledger  ·  retry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Three layers — each with one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520440" cy="4480560"/>
          </a:xfrm>
          <a:prstGeom prst="rect">
            <a:avLst/>
          </a:prstGeom>
          <a:solidFill>
            <a:srgbClr val="1622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17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  <a:latin typeface="Inter"/>
              </a:rPr>
              <a:t>state-machine.mjs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WHAT to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317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8"/>
                </a:solidFill>
                <a:latin typeface="Inter"/>
              </a:rPr>
              <a:t>Declares the 10 states, their agents, success/fail transitions, and human gates. Pure data — no logic.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474720"/>
            <a:ext cx="338328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70248" y="1234440"/>
            <a:ext cx="3520440" cy="4480560"/>
          </a:xfrm>
          <a:prstGeom prst="rect">
            <a:avLst/>
          </a:prstGeom>
          <a:solidFill>
            <a:srgbClr val="1622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D6B5"/>
                </a:solidFill>
                <a:latin typeface="Inter"/>
              </a:rPr>
              <a:t>orchestrator.mjs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HOW to run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8"/>
                </a:solidFill>
                <a:latin typeface="Inter"/>
              </a:rPr>
              <a:t>Walks the state machine in a while loop. Manages the ledger, retries, gates, and escalation.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90688" y="3474720"/>
            <a:ext cx="338327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29015" y="1234440"/>
            <a:ext cx="3520440" cy="4480560"/>
          </a:xfrm>
          <a:prstGeom prst="rect">
            <a:avLst/>
          </a:prstGeom>
          <a:solidFill>
            <a:srgbClr val="16223A"/>
          </a:solidFill>
          <a:ln w="12700">
            <a:solidFill>
              <a:srgbClr val="C0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417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AFF"/>
                </a:solidFill>
                <a:latin typeface="Inter"/>
              </a:rPr>
              <a:t>claude-cli.mjs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187451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RUNS each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3317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8"/>
                </a:solidFill>
                <a:latin typeface="Inter"/>
              </a:rPr>
              <a:t>Spawns  claude -p  as a child process. Assembles the system prompt, scopes tools, parses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350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DD6B5"/>
                </a:solidFill>
                <a:latin typeface="Inter"/>
              </a:rPr>
              <a:t>Intelligence lives in the agents.  Reliability lives in the orchestrator.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state-machine.mjs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Declares the pipeline as a graph — no logic, pure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65992" cy="416052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1672" cy="3941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export const STATES = {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scout:         { agent: 'scout',         gate: null,                 next: 'spec'         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spec:          { agent: 'spec-writer',   gate: 'human-approve-spec', next: 'plan'         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plan:          { agent: 'planner',       gate: null,                 next: 'implement'    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implement:     { agent: 'implementer',   gate: null,                 next: 'test',    onFail: 'implement', isolation: 'worktree'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test:          { agent: 'test-author',   gate: null,                 next: 'pr',      onFail: 'implement'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pr:            { agent: 'pr-agent',      gate: null,                 next: 'review'       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review:        { agent: 'reviewer',      gate: null,                 next: 'preview_e2e',  onFail: 'implement'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preview_e2e:   { agent: 'preview-e2e',   gate: 'human-approve-pr',   next: 'merge_release'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merge_release: { agent: 'merge-release', gate: null,                 next: 'close_curate', onFail: 'ROLLBACK'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close_curate:  { agent: 'closer-curator',gate: null,                 next: 'DONE'          },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577840"/>
            <a:ext cx="2240280" cy="82296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Inter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which function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5577840"/>
            <a:ext cx="2240280" cy="822960"/>
          </a:xfrm>
          <a:prstGeom prst="rect">
            <a:avLst/>
          </a:prstGeom>
          <a:solidFill>
            <a:srgbClr val="1A24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D6B5"/>
                </a:solidFill>
                <a:latin typeface="Inter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success → go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5577840"/>
            <a:ext cx="2240280" cy="822960"/>
          </a:xfrm>
          <a:prstGeom prst="rect">
            <a:avLst/>
          </a:prstGeom>
          <a:solidFill>
            <a:srgbClr val="1A24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0408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4C"/>
                </a:solidFill>
                <a:latin typeface="Inter"/>
              </a:rPr>
              <a:t>onFail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failure → route 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5577840"/>
            <a:ext cx="2240280" cy="822960"/>
          </a:xfrm>
          <a:prstGeom prst="rect">
            <a:avLst/>
          </a:prstGeom>
          <a:solidFill>
            <a:srgbClr val="1A243A"/>
          </a:solidFill>
          <a:ln w="12700">
            <a:solidFill>
              <a:srgbClr val="C0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AFF"/>
                </a:solidFill>
                <a:latin typeface="Inter"/>
              </a:rPr>
              <a:t>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7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pause for human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5577840"/>
            <a:ext cx="2240280" cy="822960"/>
          </a:xfrm>
          <a:prstGeom prst="rect">
            <a:avLst/>
          </a:prstGeom>
          <a:solidFill>
            <a:srgbClr val="1A243A"/>
          </a:solidFill>
          <a:ln w="12700">
            <a:solidFill>
              <a:srgbClr val="4CD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7" y="5650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D97A"/>
                </a:solidFill>
                <a:latin typeface="Inter"/>
              </a:rPr>
              <a:t>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51007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own git worktree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The single source of truth — one object, shared across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65992" cy="512064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1672" cy="4901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// Created once in orchestrator.mjs before the loop starts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const ledger = {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ticketKey: 'TASK-142',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request:   'We want a deadline-based task scheduler...',  // original feature request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state:     'scout',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attempts:  {},        // { scout: 1, implement: 2, ... }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artifacts: {},        // populated by each agent as it completes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history:   [],        // audit trail of every agent run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}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// After the pipeline runs, artifacts looks like: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ledger.artifacts = {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scout:         '# Impact assessment...',                   // markdown string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spec:          { title, problem, acceptanceCriteria },     // parsed JSON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plan:          { slices: [{ backend }, { frontend }] },    // parsed JSON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implement:     '# Implementation summary...',             // markdown string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test:          '# Test report...',                         // markdown string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pr:            { description, diff },                      // parsed JSON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  review:        { verdict: 'pass', findings: [...] },       // parsed JSON</a:t>
            </a:r>
          </a:p>
          <a:p>
            <a:pPr algn="l"/>
            <a:r>
              <a:rPr sz="105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DD6B5"/>
                </a:solidFill>
                <a:latin typeface="Inter"/>
              </a:rPr>
              <a:t>No database. No message queue. Just this object in memory — passed by reference to every agent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orchestrator.mjs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A while loop that walks the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65992" cy="544068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1672" cy="5221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while (ledger.state !== 'DONE' &amp;&amp; ledger.state !== 'ESCALATE') 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stateId = ledger.state;                    // e.g. 'scout'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def     = STATES[stateId];                 // { agent, next, onFail, gate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agentFn = agents[def.agent];               // the actual function to call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ledger.attempts[stateId] = (ledger.attempts[stateId] ?? 0) + 1;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── Run the agent 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result = await agentFn({ ledger, attempt, log });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                             ^^^^^^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                             whole ledger passed in — agent reads what it needs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if (result.artifact) ledger.artifacts[stateId] = result.artifact;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                                   ^^^^^^^   one entry added per completed state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── Route on failure ──────────────────────────────────────────────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if (result.ok === false) 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if (attempt &gt;= MAX_ATTEMPTS) { ledger.state = 'ESCALATE'; break;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ledger.state = failState(stateId);   // e.g. 'test' → back to 'implement'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continue;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── Human gate (blocks until approved) ───────────────────────────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if (def.gate) 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const decision = await approveGate(def.gate, ledger);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if (!decision.approved) { ledger.state = 'ESCALATE'; break;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ledger.state = nextState(stateId);     // advance to next state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claude-cli.mjs  —  runClaude()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Spawns  claude -p  as a child process for every agent 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65992" cy="530352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1672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export async function runClaude({ prompt, agentPromptPath, allowedTools, schema, permissionMode }) {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1. Build system prompt: shared knowledge base + this agent's role file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const systemPrompt = KNOWLEDGE + '\n\n---\n\n' + readFileSync(agentPromptPath);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   KNOWLEDGE = .knowledge/CLAUDE.md + skills/*.md + decisions/*.md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   agentPromptPath = e.g. 'agents/07-reviewer.md'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2. If structured output needed, append JSON Schema to the user prompt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const finalPrompt = schema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? `${prompt}\n\nRespond with ONLY a JSON object matching:\n${JSON.stringify(schema)}`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: prompt;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3. Spawn the local Claude Code CLI in headless mode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const { stdout } = await execFile('claude', [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'-p',                   finalPrompt,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'--output-format',      'json',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'--append-system-prompt', systemPrompt,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'--permission-mode',    permissionMode,   // 'plan' | 'acceptEdits'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  '--allowedTools',       allowedTools.join(','),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]);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// 4. Parse result — raw text or JSON object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const env = JSON.parse(stdout);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  return schema ? coerceJson(env.result) : env.result;</a:t>
            </a:r>
          </a:p>
          <a:p>
            <a:pPr algn="l"/>
            <a:r>
              <a:rPr sz="10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D6B5"/>
                </a:solidFill>
                <a:latin typeface="Inter"/>
              </a:rPr>
              <a:t>▸ No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7025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Uses your local  claude 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465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Inter"/>
              </a:rPr>
              <a:t>▸ Stateless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7025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Each call is a fresh subprocess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64465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4C"/>
                </a:solidFill>
                <a:latin typeface="Inter"/>
              </a:rPr>
              <a:t>▸ Scoped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67025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Per-agent allowlist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64465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AFF"/>
                </a:solidFill>
                <a:latin typeface="Inter"/>
              </a:rPr>
              <a:t>▸ Structured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7025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JSON Schema forces typed return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System Prompt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Every agent gets the same knowledge base + its own role on 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6858000" cy="640080"/>
          </a:xfrm>
          <a:prstGeom prst="rect">
            <a:avLst/>
          </a:prstGeom>
          <a:solidFill>
            <a:srgbClr val="1622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Inter"/>
              </a:rPr>
              <a:t>.knowledge/CLAUDE.md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Coding conventions, UTC rules, naming standards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6858000" cy="640080"/>
          </a:xfrm>
          <a:prstGeom prst="rect">
            <a:avLst/>
          </a:prstGeom>
          <a:solidFill>
            <a:srgbClr val="1622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Inter"/>
              </a:rPr>
              <a:t>.knowledge/skills/*.md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How to add an Angular feature, NestJS module, etc.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6858000" cy="640080"/>
          </a:xfrm>
          <a:prstGeom prst="rect">
            <a:avLst/>
          </a:prstGeom>
          <a:solidFill>
            <a:srgbClr val="1622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Inter"/>
              </a:rPr>
              <a:t>.knowledge/decisions/*.md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27832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ADRs — e.g. ADR-0001: scheduler uses cron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3493008"/>
            <a:ext cx="11274552" cy="0"/>
          </a:xfrm>
          <a:prstGeom prst="line">
            <a:avLst/>
          </a:prstGeom>
          <a:ln w="9525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0" y="33101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8"/>
                </a:solidFill>
                <a:latin typeface="Inter"/>
              </a:rPr>
              <a:t>appended via  --append-system-prompt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86200"/>
            <a:ext cx="6858000" cy="640080"/>
          </a:xfrm>
          <a:prstGeom prst="rect">
            <a:avLst/>
          </a:prstGeom>
          <a:solidFill>
            <a:srgbClr val="16223A"/>
          </a:solidFill>
          <a:ln w="12700">
            <a:solidFill>
              <a:srgbClr val="C0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AFF"/>
                </a:solidFill>
                <a:latin typeface="Inter"/>
              </a:rPr>
              <a:t>agents/07-reviewer.md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33672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Inter"/>
              </a:rPr>
              <a:t>Role: reviewer. Tools allowed. Output format.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D6B5"/>
                </a:solidFill>
                <a:latin typeface="Inter"/>
              </a:rPr>
              <a:t>KNOWLEDGE 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325880"/>
            <a:ext cx="4187952" cy="502920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435607"/>
            <a:ext cx="3913632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Loaded ONCE, cached across all agents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function loadKnowledge()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const parts = [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readFileSync('.knowledge/CLAUDE.md'),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];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for (const dir of ['skills', 'decisions'])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for (const f of readdirSync(dir))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  parts.push(readFileSync(f));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return parts.join('\n\n---\n\n');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Per-agent prompt built on demand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function systemPrompt(agentPromptPath)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const role = readFileSync(agentPromptPath);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return `${KNOWLEDGE}\n\n---\n\n${role}`;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3DD6B5"/>
                </a:solidFill>
                <a:latin typeface="Inter"/>
              </a:rPr>
              <a:t>Claude Code caches the large stable prefix automatically — only the agent role tip changes per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Information Passing Between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No shared memory — prior outputs are copy-pasted into the next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6217920" cy="544068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5943600" cy="5221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SCOUT — reads ledger.request, returns markdown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const scout = async ({ ledger }) =&gt;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const md = await runClaude({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prompt: `Feature request:\n\n${ledger.request}`,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});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return { ok: true, artifact: md };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// → stored as: ledger.artifacts['scout'] = md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};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SPEC-WRITER — reads .request AND .artifacts.scout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const specWriter = async ({ ledger }) =&gt;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const spec = await runClaude({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prompt: `Request:\n${ledger.request}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         Impact:\n${ledger.artifacts.scout}`,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//                  ^^^^^^^^^^^^^^^^^^^^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//                  scout's markdown pasted inline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schema: SPEC_SCHEMA,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});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return { ok: true, artifact: spec };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// → stored as: ledger.artifacts['spec'] = { title, ACs, ... 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};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REVIEWER — reads spec + implement + test + pr at once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const reviewer = async ({ ledger }) =&gt; {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const prompt = `Spec:\n${JSON.stringify(ledger.artifacts.spec)}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Impl:\n${ledger.artifacts.implement}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Tests:\n${ledger.artifacts.test}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    Diff:\n${ledger.artifacts.pr?.diff}`;</a:t>
            </a:r>
          </a:p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Data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69164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013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9EFF"/>
                </a:solidFill>
                <a:latin typeface="Inter"/>
              </a:rPr>
              <a:t>ledger.request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45168" y="219456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95160" y="233172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4414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D6B5"/>
                </a:solidFill>
                <a:latin typeface="Inter"/>
              </a:rPr>
              <a:t>ledger.artifacts.scout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45168" y="2834639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95160" y="297180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0815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D6B5"/>
                </a:solidFill>
                <a:latin typeface="Inter"/>
              </a:rPr>
              <a:t>ledger.artifacts.spec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45168" y="347472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95160" y="361188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7216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D6B5"/>
                </a:solidFill>
                <a:latin typeface="Inter"/>
              </a:rPr>
              <a:t>ledger.artifacts.plan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45168" y="411480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995160" y="425196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3616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ledger.artifacts.implement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475488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995160" y="489204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50017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ledger.artifacts.test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45168" y="5394959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95160" y="5532120"/>
            <a:ext cx="4709160" cy="502920"/>
          </a:xfrm>
          <a:prstGeom prst="rect">
            <a:avLst/>
          </a:prstGeom>
          <a:solidFill>
            <a:srgbClr val="1624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56418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ledger.artifacts.pr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6172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8"/>
                </a:solidFill>
                <a:latin typeface="Inter"/>
              </a:rPr>
              <a:t>The mechanism is string concatenation.
Each agent reads what it needs from ledger.artifacts
and pastes it into its prompt as plain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The Retry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ok: false routes back — the orchestrator, not the agent, controls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6217920" cy="512064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5943600" cy="4901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// orchestrator.mjs — failure routing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if (result.ok === false) 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target = failState(stateId);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'test'   → onFail → 'implement'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// 'review' → onFail → 'implement'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if (attempt &gt;= MAX_ATTEMPTS) {   // MAX = 3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ledger.state = 'ESCALATE';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break;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ledger.state = target;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continue;  // restarts the while loop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}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// agents.cli.mjs — implementer on retry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const liveImplementer = async ({ ledger, attempt }) =&gt; 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const fix = ledger.testFail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? `Tests are FAILING. Fix this:\n${ledger.testFail.slice(-3500)}`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: '';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await runClaude({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prompt: `Plan:\n${JSON.stringify(ledger.artifacts.plan)}${fix}`,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  //               ^^^^ failure output appended on retry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  });</a:t>
            </a:r>
          </a:p>
          <a:p>
            <a:pPr algn="l"/>
            <a:r>
              <a:rPr sz="980">
                <a:solidFill>
                  <a:srgbClr val="A8D8FF"/>
                </a:solidFill>
                <a:latin typeface="Courier New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Retry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45920"/>
            <a:ext cx="2926080" cy="548640"/>
          </a:xfrm>
          <a:prstGeom prst="rect">
            <a:avLst/>
          </a:prstGeom>
          <a:solidFill>
            <a:srgbClr val="16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7556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  <a:latin typeface="Inter"/>
              </a:rPr>
              <a:t>implement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7830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Inter"/>
              </a:rPr>
              <a:t>attempt 1, 2,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219456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0" y="2514600"/>
            <a:ext cx="2926080" cy="548640"/>
          </a:xfrm>
          <a:prstGeom prst="rect">
            <a:avLst/>
          </a:prstGeom>
          <a:solidFill>
            <a:srgbClr val="1624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624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D6B5"/>
                </a:solidFill>
                <a:latin typeface="Inter"/>
              </a:rPr>
              <a:t>test-author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6517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Inter"/>
              </a:rPr>
              <a:t>runs npm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306324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0" y="3383280"/>
            <a:ext cx="2926080" cy="548640"/>
          </a:xfrm>
          <a:prstGeom prst="rect">
            <a:avLst/>
          </a:prstGeom>
          <a:solidFill>
            <a:srgbClr val="16243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4930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Inter"/>
              </a:rPr>
              <a:t>ok: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352044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Inter"/>
              </a:rPr>
              <a:t>CI red → routes 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393192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0" y="4251960"/>
            <a:ext cx="2926080" cy="548640"/>
          </a:xfrm>
          <a:prstGeom prst="rect">
            <a:avLst/>
          </a:prstGeom>
          <a:solidFill>
            <a:srgbClr val="1624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361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4C"/>
                </a:solidFill>
                <a:latin typeface="Inter"/>
              </a:rP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438912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Inter"/>
              </a:rPr>
              <a:t>attempt 2 — gets failure output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4800600"/>
            <a:ext cx="0" cy="0"/>
          </a:xfrm>
          <a:prstGeom prst="line">
            <a:avLst/>
          </a:prstGeom>
          <a:ln w="19050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0" y="5120640"/>
            <a:ext cx="2926080" cy="548640"/>
          </a:xfrm>
          <a:prstGeom prst="rect">
            <a:avLst/>
          </a:prstGeom>
          <a:solidFill>
            <a:srgbClr val="16243A"/>
          </a:solidFill>
          <a:ln w="12700">
            <a:solidFill>
              <a:srgbClr val="4CD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52303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  <a:latin typeface="Inter"/>
              </a:rPr>
              <a:t>test-author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525780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Inter"/>
              </a:rPr>
              <a:t>ok: true → continues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9436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8"/>
                </a:solidFill>
                <a:latin typeface="Inter"/>
              </a:rPr>
              <a:t>After MAX_ATTEMPTS (3) the orchestrator sets
ledger.state = 'ESCALATE' and stops the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Human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The loop pauses — nothing moves forward until a person approves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1365992" cy="329184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11091672" cy="3072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// orchestrator.mjs — gate check runs AFTER a successful agent result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if (def.gate) {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log.gate(def.gate);                          // '✋ HUMAN GATE: human-approve-spec'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const decision = await approveGate(def.gate, ledger);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//               ^^^^^^^^^^^^^^^^^^^^^^^^^^^^^^^^^^^^^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//               In production: blocks on a real Linear approval or GitHub PR review.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//               In the demo:   auto-approves immediately.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if (!decision.approved) {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  ledger.state = 'ESCALATE';                 // human rejected → stop pipeline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  break;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  }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}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// Only reaches nextState() if the gate cleared</a:t>
            </a:r>
          </a:p>
          <a:p>
            <a:pPr algn="l"/>
            <a:r>
              <a:rPr sz="1100">
                <a:solidFill>
                  <a:srgbClr val="A8D8FF"/>
                </a:solidFill>
                <a:latin typeface="Courier New"/>
              </a:rPr>
              <a:t>ledger.state = nextState(stateId);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617720"/>
            <a:ext cx="5486400" cy="1920240"/>
          </a:xfrm>
          <a:prstGeom prst="rect">
            <a:avLst/>
          </a:prstGeom>
          <a:solidFill>
            <a:srgbClr val="1622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  <a:latin typeface="Inter"/>
              </a:rPr>
              <a:t>human-approve-spec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  <a:latin typeface="Inter"/>
              </a:rPr>
              <a:t>After spec-writer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40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A PM reads the ticket and acceptance criteria before any code is written.
The spec + open questions are in ledger.artifacts.spec.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216" y="4617720"/>
            <a:ext cx="5486400" cy="1920240"/>
          </a:xfrm>
          <a:prstGeom prst="rect">
            <a:avLst/>
          </a:prstGeom>
          <a:solidFill>
            <a:srgbClr val="16223A"/>
          </a:solidFill>
          <a:ln w="12700">
            <a:solidFill>
              <a:srgbClr val="C0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AFF"/>
                </a:solidFill>
                <a:latin typeface="Inter"/>
              </a:rPr>
              <a:t>human-approve-pr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074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  <a:latin typeface="Inter"/>
              </a:rPr>
              <a:t>After preview-e2e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5440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A tech lead reviews the PR and E2E report before merge.
All artifacts are available in ledger.artifacts at this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Permission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Least-privilege — each agent only gets the tools its role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8"/>
                </a:solidFill>
                <a:latin typeface="Inter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8"/>
                </a:solidFill>
                <a:latin typeface="Inter"/>
              </a:rPr>
              <a:t>permissionMode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8"/>
                </a:solidFill>
                <a:latin typeface="Inter"/>
              </a:rPr>
              <a:t>allowedTools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B8"/>
                </a:solidFill>
                <a:latin typeface="Inter"/>
              </a:rPr>
              <a:t>What it can do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9525">
            <a:solidFill>
              <a:srgbClr val="8A9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1563624"/>
            <a:ext cx="11548872" cy="530352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9EFF"/>
                </a:solidFill>
                <a:latin typeface="Inter"/>
              </a:rPr>
              <a:t>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D6B5"/>
                </a:solidFill>
                <a:latin typeface="Inter"/>
              </a:rPr>
              <a:t>plan      (read-only)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Grep,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00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Explores codebase — never writes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16712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9EFF"/>
                </a:solidFill>
                <a:latin typeface="Inter"/>
              </a:rPr>
              <a:t>spec-writer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D6B5"/>
                </a:solidFill>
                <a:latin typeface="Inter"/>
              </a:rPr>
              <a:t>plan      (read-only)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mcp.linear.write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671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Reads repo, creates Linear ticket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97480"/>
            <a:ext cx="11548872" cy="530352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34056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9EFF"/>
                </a:solidFill>
                <a:latin typeface="Inter"/>
              </a:rPr>
              <a:t>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734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D6B5"/>
                </a:solidFill>
                <a:latin typeface="Inter"/>
              </a:rPr>
              <a:t>plan      (read-only)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340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73405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Reads spec, outputs JSON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00984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implementer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009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5C5C"/>
                </a:solidFill>
                <a:latin typeface="Inter"/>
              </a:rPr>
              <a:t>acceptEdits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009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Edit, Write, Bash, Grep, Glob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30098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The ONLY agent that writes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31336"/>
            <a:ext cx="11548872" cy="530352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67912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test-author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67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5C5C"/>
                </a:solidFill>
                <a:latin typeface="Inter"/>
              </a:rPr>
              <a:t>acceptEdits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8679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Edit, Write, Bash, Grep, Glob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679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Writes tests, runs npm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348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84C"/>
                </a:solidFill>
                <a:latin typeface="Inter"/>
              </a:rPr>
              <a:t>pr-agent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5C5C"/>
                </a:solidFill>
                <a:latin typeface="Inter"/>
              </a:rPr>
              <a:t>acceptEdits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Bash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Reads diff, writes PR description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65192"/>
            <a:ext cx="11548872" cy="530352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0176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D6B5"/>
                </a:solidFill>
                <a:latin typeface="Inter"/>
              </a:rPr>
              <a:t>reviewer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0017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D6B5"/>
                </a:solidFill>
                <a:latin typeface="Inter"/>
              </a:rPr>
              <a:t>plan      (read-only)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001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001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Reads artifacts, emits verdict 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68696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D6B5"/>
                </a:solidFill>
                <a:latin typeface="Inter"/>
              </a:rPr>
              <a:t>closer-curator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55686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D6B5"/>
                </a:solidFill>
                <a:latin typeface="Inter"/>
              </a:rPr>
              <a:t>plan      (read-only)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568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Inter"/>
              </a:rPr>
              <a:t>Read, mcp.linear.write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568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Inter"/>
              </a:rPr>
              <a:t>Closes ticket, proposes CLAUDE.md update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EFF"/>
                </a:solidFill>
                <a:latin typeface="Inter"/>
              </a:rPr>
              <a:t>Live vs Simulated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Inter"/>
              </a:rPr>
              <a:t>Same orchestrator, same state machine — only the agent functions swap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1828800"/>
          </a:xfrm>
          <a:prstGeom prst="rect">
            <a:avLst/>
          </a:prstGeom>
          <a:solidFill>
            <a:srgbClr val="1A243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1672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// run.mjs — one env var switches the entire agent layer</a:t>
            </a:r>
          </a:p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const LIVE = process.env.AGENTS === 'live';</a:t>
            </a:r>
          </a:p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const { makeAgents } = await import(</a:t>
            </a:r>
          </a:p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  LIVE ? './agents.cli.mjs'       // real claude -p calls + real npm test</a:t>
            </a:r>
          </a:p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       : './simulated-agents.mjs' // hard-coded artifacts, runs offline</a:t>
            </a:r>
          </a:p>
          <a:p>
            <a:pPr algn="l"/>
            <a:r>
              <a:rPr sz="1200">
                <a:solidFill>
                  <a:srgbClr val="A8D8FF"/>
                </a:solidFill>
                <a:latin typeface="Courier New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200400"/>
            <a:ext cx="5486400" cy="3337560"/>
          </a:xfrm>
          <a:prstGeom prst="rect">
            <a:avLst/>
          </a:prstGeom>
          <a:solidFill>
            <a:srgbClr val="16223A"/>
          </a:solidFill>
          <a:ln w="12700">
            <a:solidFill>
              <a:srgbClr val="3DD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101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D6B5"/>
                </a:solidFill>
                <a:latin typeface="Inter"/>
              </a:rPr>
              <a:t>Simulated
node example/run.mjs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Pre-written artifacts returned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8055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One CI failure injected to demo retry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8347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Human gates auto-approve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864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Runs offline — no Claude login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893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Good for understanding the control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3200400"/>
            <a:ext cx="5486400" cy="3337560"/>
          </a:xfrm>
          <a:prstGeom prst="rect">
            <a:avLst/>
          </a:prstGeom>
          <a:solidFill>
            <a:srgbClr val="16223A"/>
          </a:solidFill>
          <a:ln w="1270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33101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4C"/>
                </a:solidFill>
                <a:latin typeface="Inter"/>
              </a:rPr>
              <a:t>Live
AGENTS=live node example/run.mjs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9776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scout / spec / plan / review / curate → real claude -p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48055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implementer / test-author → edit real files under apps/taskapp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98347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test-author → runs real npm test as the CI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54864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pr-agent → generates PR description from real git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59893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nter"/>
              </a:rPr>
              <a:t>▸  Linear ticket created/closed if LINEAR_API_KEY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BB8"/>
                </a:solidFill>
                <a:latin typeface="Inter"/>
              </a:rPr>
              <a:t>The orchestrator doesn't know or care which mode is active.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4552" cy="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554480"/>
            <a:ext cx="73152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  <a:latin typeface="Inter"/>
              </a:rPr>
              <a:t>state-machine.mjs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Pure data. Declares 10 states: which agent runs, where to go on success, where to retry on failure, when to pause for a human.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95728"/>
            <a:ext cx="73152" cy="502920"/>
          </a:xfrm>
          <a:prstGeom prst="rect">
            <a:avLst/>
          </a:prstGeom>
          <a:solidFill>
            <a:srgbClr val="3DD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D6B5"/>
                </a:solidFill>
                <a:latin typeface="Inter"/>
              </a:rPr>
              <a:t>orchestrator.mjs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A while loop. Runs each agent, writes its output to ledger.artifacts[stateId], routes back on failure (ok: false), pauses at gates, escalates after MAX_ATTEMPTS.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36976"/>
            <a:ext cx="73152" cy="502920"/>
          </a:xfrm>
          <a:prstGeom prst="rect">
            <a:avLst/>
          </a:prstGeom>
          <a:solidFill>
            <a:srgbClr val="C0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369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AFF"/>
                </a:solidFill>
                <a:latin typeface="Inter"/>
              </a:rPr>
              <a:t>claude-cli.mjs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0273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Spawns  claude -p  as a child process. Assembles system prompt = knowledge base + agent role. Scopes tools. Returns raw text or parsed JSON.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78224"/>
            <a:ext cx="73152" cy="502920"/>
          </a:xfrm>
          <a:prstGeom prst="rect">
            <a:avLst/>
          </a:prstGeom>
          <a:solidFill>
            <a:srgbClr val="FF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4C"/>
                </a:solidFill>
                <a:latin typeface="Inter"/>
              </a:rPr>
              <a:t>The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439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One plain JS object. Created once, passed by reference to every agent. Agents read prior artifacts from it and return their own as { artifact }.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19472"/>
            <a:ext cx="73152" cy="5029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194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D97A"/>
                </a:solidFill>
                <a:latin typeface="Inter"/>
              </a:rPr>
              <a:t>Information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8523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String concatenation. Each agent function manually pulls what it needs from ledger.artifacts and pastes it into the prompt string before calling runClaude().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760720"/>
            <a:ext cx="73152" cy="5029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60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Inter"/>
              </a:rPr>
              <a:t>Retry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264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8"/>
                </a:solidFill>
                <a:latin typeface="Inter"/>
              </a:rPr>
              <a:t>Failure stays inside the orchestrator. The agent returns ok: false, the orchestrator routes back to the onFail state and appends the error to the next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